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Poppins"/>
      <p:bold r:id="rId21"/>
      <p:boldItalic r:id="rId22"/>
    </p:embeddedFont>
    <p:embeddedFont>
      <p:font typeface="Poppins Medium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bold.fntdata"/><Relationship Id="rId24" Type="http://schemas.openxmlformats.org/officeDocument/2006/relationships/font" Target="fonts/PoppinsMedium-bold.fntdata"/><Relationship Id="rId23" Type="http://schemas.openxmlformats.org/officeDocument/2006/relationships/font" Target="fonts/Poppins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Medium-boldItalic.fntdata"/><Relationship Id="rId25" Type="http://schemas.openxmlformats.org/officeDocument/2006/relationships/font" Target="fonts/PoppinsMedium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4de3c7f7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4de3c7f7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2e2c7e0cd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2e2c7e0cd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2e2c7e0cd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2e2c7e0cd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00fe7ef6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00fe7ef6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00fe7ef6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00fe7ef6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2e2c7e0cd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2e2c7e0cd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2e2c7e0cd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2e2c7e0cd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2e2c7e0cd_0_7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f2e2c7e0cd_0_7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00fe7ef6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00fe7ef6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2e2c7e0cd_0_10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2e2c7e0cd_0_1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2e2c7e0cd_0_1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2e2c7e0cd_0_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Relationship Id="rId6" Type="http://schemas.openxmlformats.org/officeDocument/2006/relationships/image" Target="../media/image16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22.png"/><Relationship Id="rId7" Type="http://schemas.openxmlformats.org/officeDocument/2006/relationships/image" Target="../media/image18.png"/><Relationship Id="rId8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309563" y="138113"/>
            <a:ext cx="8524800" cy="952500"/>
            <a:chOff x="-71437" y="-52387"/>
            <a:chExt cx="8524800" cy="952500"/>
          </a:xfrm>
        </p:grpSpPr>
        <p:pic>
          <p:nvPicPr>
            <p:cNvPr id="55" name="Google Shape;55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71437" y="-52387"/>
              <a:ext cx="8524800" cy="952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3"/>
            <p:cNvPicPr preferRelativeResize="0"/>
            <p:nvPr/>
          </p:nvPicPr>
          <p:blipFill rotWithShape="1">
            <a:blip r:embed="rId5">
              <a:alphaModFix/>
            </a:blip>
            <a:srcRect b="348" l="0" r="0" t="338"/>
            <a:stretch/>
          </p:blipFill>
          <p:spPr>
            <a:xfrm>
              <a:off x="142875" y="133350"/>
              <a:ext cx="523800" cy="54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3"/>
            <p:cNvPicPr preferRelativeResize="0"/>
            <p:nvPr/>
          </p:nvPicPr>
          <p:blipFill rotWithShape="1">
            <a:blip r:embed="rId6">
              <a:alphaModFix/>
            </a:blip>
            <a:srcRect b="544" l="0" r="0" t="544"/>
            <a:stretch/>
          </p:blipFill>
          <p:spPr>
            <a:xfrm>
              <a:off x="2428875" y="95250"/>
              <a:ext cx="2952900" cy="6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3"/>
            <p:cNvPicPr preferRelativeResize="0"/>
            <p:nvPr/>
          </p:nvPicPr>
          <p:blipFill rotWithShape="1">
            <a:blip r:embed="rId7">
              <a:alphaModFix/>
            </a:blip>
            <a:srcRect b="564" l="0" r="0" t="564"/>
            <a:stretch/>
          </p:blipFill>
          <p:spPr>
            <a:xfrm>
              <a:off x="7524750" y="142875"/>
              <a:ext cx="714300" cy="523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13"/>
          <p:cNvSpPr txBox="1"/>
          <p:nvPr/>
        </p:nvSpPr>
        <p:spPr>
          <a:xfrm>
            <a:off x="381000" y="1190625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Smart Pilgrim Companion: Cloud-Based Spiritual Travel &amp;</a:t>
            </a:r>
            <a:br>
              <a:rPr b="1" lang="en" sz="2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 sz="1800">
                <a:solidFill>
                  <a:srgbClr val="DD6B20"/>
                </a:solidFill>
                <a:latin typeface="Poppins"/>
                <a:ea typeface="Poppins"/>
                <a:cs typeface="Poppins"/>
                <a:sym typeface="Poppins"/>
              </a:rPr>
              <a:t>Temple Assistance Platform Using AWS</a:t>
            </a:r>
            <a:endParaRPr b="1" sz="20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0" name="Google Shape;60;p13"/>
          <p:cNvGrpSpPr/>
          <p:nvPr/>
        </p:nvGrpSpPr>
        <p:grpSpPr>
          <a:xfrm>
            <a:off x="381000" y="2143125"/>
            <a:ext cx="3429000" cy="2524200"/>
            <a:chOff x="0" y="0"/>
            <a:chExt cx="3429000" cy="2524200"/>
          </a:xfrm>
        </p:grpSpPr>
        <p:sp>
          <p:nvSpPr>
            <p:cNvPr id="61" name="Google Shape;61;p13"/>
            <p:cNvSpPr/>
            <p:nvPr/>
          </p:nvSpPr>
          <p:spPr>
            <a:xfrm>
              <a:off x="0" y="0"/>
              <a:ext cx="3429000" cy="2524200"/>
            </a:xfrm>
            <a:prstGeom prst="roundRect">
              <a:avLst>
                <a:gd fmla="val 60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13"/>
            <p:cNvPicPr preferRelativeResize="0"/>
            <p:nvPr/>
          </p:nvPicPr>
          <p:blipFill rotWithShape="1">
            <a:blip r:embed="rId8">
              <a:alphaModFix/>
            </a:blip>
            <a:srcRect b="0" l="2345" r="2335" t="0"/>
            <a:stretch/>
          </p:blipFill>
          <p:spPr>
            <a:xfrm>
              <a:off x="114300" y="142875"/>
              <a:ext cx="3200400" cy="2238300"/>
            </a:xfrm>
            <a:prstGeom prst="roundRect">
              <a:avLst>
                <a:gd fmla="val 5106" name="adj"/>
              </a:avLst>
            </a:prstGeom>
            <a:noFill/>
            <a:ln>
              <a:noFill/>
            </a:ln>
          </p:spPr>
        </p:pic>
      </p:grpSp>
      <p:grpSp>
        <p:nvGrpSpPr>
          <p:cNvPr id="63" name="Google Shape;63;p13"/>
          <p:cNvGrpSpPr/>
          <p:nvPr/>
        </p:nvGrpSpPr>
        <p:grpSpPr>
          <a:xfrm>
            <a:off x="4000500" y="2143125"/>
            <a:ext cx="4762500" cy="2524200"/>
            <a:chOff x="0" y="0"/>
            <a:chExt cx="4762500" cy="2524200"/>
          </a:xfrm>
        </p:grpSpPr>
        <p:sp>
          <p:nvSpPr>
            <p:cNvPr id="64" name="Google Shape;64;p13"/>
            <p:cNvSpPr/>
            <p:nvPr/>
          </p:nvSpPr>
          <p:spPr>
            <a:xfrm>
              <a:off x="0" y="0"/>
              <a:ext cx="4762500" cy="2524200"/>
            </a:xfrm>
            <a:prstGeom prst="roundRect">
              <a:avLst>
                <a:gd fmla="val 60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 txBox="1"/>
            <p:nvPr/>
          </p:nvSpPr>
          <p:spPr>
            <a:xfrm>
              <a:off x="238125" y="142875"/>
              <a:ext cx="4286400" cy="2238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Team Members:</a:t>
              </a:r>
              <a:endParaRPr b="1" sz="11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• ADHIMULAM BHARGAV SAI VISWANATH (23BQ1A4201)</a:t>
              </a:r>
              <a:endParaRPr b="0" sz="950">
                <a:solidFill>
                  <a:srgbClr val="475569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• BEZAWADA MEGHANA (23BQ1A4218)</a:t>
              </a:r>
              <a:endParaRPr b="0" sz="950">
                <a:solidFill>
                  <a:srgbClr val="475569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• BODEPUDI NAGA SOUMYA (23BQ1A4222)</a:t>
              </a:r>
              <a:endParaRPr b="0" sz="950">
                <a:solidFill>
                  <a:srgbClr val="475569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• DERANGULA VISHNUVARDHAN (23BQ1A4238)</a:t>
              </a:r>
              <a:endParaRPr b="0" sz="950">
                <a:solidFill>
                  <a:srgbClr val="475569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• JUJJURI LAKSHMI SOWMYA (23BQ1A4269)</a:t>
              </a:r>
              <a:endParaRPr b="0" sz="950">
                <a:solidFill>
                  <a:srgbClr val="475569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Under the Guidance of (APSSDC):</a:t>
              </a:r>
              <a:endParaRPr b="1" sz="11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• Mrs. Bethala Sumana, APSSDC</a:t>
              </a:r>
              <a:endParaRPr b="0" sz="950">
                <a:solidFill>
                  <a:srgbClr val="475569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• Mr. Juttuka Lovababu, APSSDC</a:t>
              </a:r>
              <a:endParaRPr b="0" sz="950">
                <a:solidFill>
                  <a:srgbClr val="475569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E293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Department:</a:t>
              </a:r>
              <a:r>
                <a:rPr lang="en" sz="9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b="0" lang="en" sz="9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CSE - (AI &amp; ML) [CSM]</a:t>
              </a:r>
              <a:endParaRPr sz="9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1E293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College:</a:t>
              </a:r>
              <a:r>
                <a:rPr lang="en" sz="9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b="0" lang="en" sz="9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Vasireddy Venkatadri Institute of Technology (VVIT)</a:t>
              </a:r>
              <a:endParaRPr b="0" sz="9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rgbClr val="1E293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Location:</a:t>
              </a:r>
              <a:r>
                <a:rPr lang="en" sz="9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 Nambur, Guntur</a:t>
              </a:r>
              <a:endParaRPr sz="8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/>
        </p:nvSpPr>
        <p:spPr>
          <a:xfrm>
            <a:off x="476250" y="428625"/>
            <a:ext cx="81915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Pilgrimage planning is fragmented</a:t>
            </a:r>
            <a:endParaRPr b="1" sz="26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Key challenges pilgrims face when organizing their spiritual journeys using traditional methods.</a:t>
            </a:r>
            <a:endParaRPr b="0" sz="1200">
              <a:solidFill>
                <a:srgbClr val="6474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1" name="Google Shape;71;p14"/>
          <p:cNvGrpSpPr/>
          <p:nvPr/>
        </p:nvGrpSpPr>
        <p:grpSpPr>
          <a:xfrm>
            <a:off x="476250" y="1666875"/>
            <a:ext cx="1905000" cy="2809800"/>
            <a:chOff x="0" y="0"/>
            <a:chExt cx="1905000" cy="2809800"/>
          </a:xfrm>
        </p:grpSpPr>
        <p:sp>
          <p:nvSpPr>
            <p:cNvPr id="72" name="Google Shape;72;p14"/>
            <p:cNvSpPr/>
            <p:nvPr/>
          </p:nvSpPr>
          <p:spPr>
            <a:xfrm>
              <a:off x="0" y="0"/>
              <a:ext cx="1905000" cy="28098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0" y="0"/>
              <a:ext cx="1905000" cy="28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DD6B20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  <a:endParaRPr b="1" sz="2800">
                <a:solidFill>
                  <a:srgbClr val="DD6B2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Scattered Info</a:t>
              </a:r>
              <a:endParaRPr b="1" sz="13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Temple history, specific daily timings, and cultural context are scattered across multiple disjointed sites.</a:t>
              </a:r>
              <a:endParaRPr b="0" sz="10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4" name="Google Shape;74;p14"/>
          <p:cNvGrpSpPr/>
          <p:nvPr/>
        </p:nvGrpSpPr>
        <p:grpSpPr>
          <a:xfrm>
            <a:off x="2571750" y="1666875"/>
            <a:ext cx="1905000" cy="2809800"/>
            <a:chOff x="0" y="0"/>
            <a:chExt cx="1905000" cy="2809800"/>
          </a:xfrm>
        </p:grpSpPr>
        <p:sp>
          <p:nvSpPr>
            <p:cNvPr id="75" name="Google Shape;75;p14"/>
            <p:cNvSpPr/>
            <p:nvPr/>
          </p:nvSpPr>
          <p:spPr>
            <a:xfrm>
              <a:off x="0" y="0"/>
              <a:ext cx="1905000" cy="28098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0" y="0"/>
              <a:ext cx="1905000" cy="28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DD6B20"/>
                  </a:solidFill>
                  <a:latin typeface="Poppins"/>
                  <a:ea typeface="Poppins"/>
                  <a:cs typeface="Poppins"/>
                  <a:sym typeface="Poppins"/>
                </a:rPr>
                <a:t>02</a:t>
              </a:r>
              <a:endParaRPr b="1" sz="2800">
                <a:solidFill>
                  <a:srgbClr val="DD6B2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Multiple Sources</a:t>
              </a:r>
              <a:endParaRPr b="1" sz="13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Travel logistics require planning across various transportation, lodging, and local booking agencies.</a:t>
              </a:r>
              <a:endParaRPr b="0" sz="10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7" name="Google Shape;77;p14"/>
          <p:cNvGrpSpPr/>
          <p:nvPr/>
        </p:nvGrpSpPr>
        <p:grpSpPr>
          <a:xfrm>
            <a:off x="4667250" y="1666875"/>
            <a:ext cx="1905000" cy="2809800"/>
            <a:chOff x="0" y="0"/>
            <a:chExt cx="1905000" cy="2809800"/>
          </a:xfrm>
        </p:grpSpPr>
        <p:sp>
          <p:nvSpPr>
            <p:cNvPr id="78" name="Google Shape;78;p14"/>
            <p:cNvSpPr/>
            <p:nvPr/>
          </p:nvSpPr>
          <p:spPr>
            <a:xfrm>
              <a:off x="0" y="0"/>
              <a:ext cx="1905000" cy="28098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 txBox="1"/>
            <p:nvPr/>
          </p:nvSpPr>
          <p:spPr>
            <a:xfrm>
              <a:off x="0" y="0"/>
              <a:ext cx="1905000" cy="28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DD6B20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  <a:endParaRPr b="1" sz="2800">
                <a:solidFill>
                  <a:srgbClr val="DD6B2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Hard to Compare</a:t>
              </a:r>
              <a:endParaRPr b="1" sz="13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Budget constraints, itinerary variations, and scheduling timelines are manually tracked and hard to align.</a:t>
              </a:r>
              <a:endParaRPr b="0" sz="10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" name="Google Shape;80;p14"/>
          <p:cNvGrpSpPr/>
          <p:nvPr/>
        </p:nvGrpSpPr>
        <p:grpSpPr>
          <a:xfrm>
            <a:off x="6762750" y="1666875"/>
            <a:ext cx="1905000" cy="2809800"/>
            <a:chOff x="0" y="0"/>
            <a:chExt cx="1905000" cy="2809800"/>
          </a:xfrm>
        </p:grpSpPr>
        <p:sp>
          <p:nvSpPr>
            <p:cNvPr id="81" name="Google Shape;81;p14"/>
            <p:cNvSpPr/>
            <p:nvPr/>
          </p:nvSpPr>
          <p:spPr>
            <a:xfrm>
              <a:off x="0" y="0"/>
              <a:ext cx="1905000" cy="28098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0" y="0"/>
              <a:ext cx="1905000" cy="28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DD6B20"/>
                  </a:solidFill>
                  <a:latin typeface="Poppins"/>
                  <a:ea typeface="Poppins"/>
                  <a:cs typeface="Poppins"/>
                  <a:sym typeface="Poppins"/>
                </a:rPr>
                <a:t>04</a:t>
              </a:r>
              <a:endParaRPr b="1" sz="2800">
                <a:solidFill>
                  <a:srgbClr val="DD6B2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Guidance Gap</a:t>
              </a:r>
              <a:endParaRPr b="1" sz="13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Devotees lack a clear, centralized, and step-by-step assistant framework to start their spiritual path smoothly.</a:t>
              </a:r>
              <a:endParaRPr b="0" sz="105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/>
        </p:nvSpPr>
        <p:spPr>
          <a:xfrm>
            <a:off x="476250" y="333375"/>
            <a:ext cx="8191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 single cloud-ready platform for temple discovery and pilgrim travel planning</a:t>
            </a:r>
            <a:endParaRPr b="1" sz="24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88" name="Google Shape;88;p15"/>
          <p:cNvGrpSpPr/>
          <p:nvPr/>
        </p:nvGrpSpPr>
        <p:grpSpPr>
          <a:xfrm>
            <a:off x="476250" y="1285875"/>
            <a:ext cx="2857500" cy="2619300"/>
            <a:chOff x="0" y="0"/>
            <a:chExt cx="2857500" cy="2619300"/>
          </a:xfrm>
        </p:grpSpPr>
        <p:sp>
          <p:nvSpPr>
            <p:cNvPr id="89" name="Google Shape;89;p15"/>
            <p:cNvSpPr/>
            <p:nvPr/>
          </p:nvSpPr>
          <p:spPr>
            <a:xfrm>
              <a:off x="0" y="0"/>
              <a:ext cx="2857500" cy="2619300"/>
            </a:xfrm>
            <a:prstGeom prst="roundRect">
              <a:avLst>
                <a:gd fmla="val 581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 txBox="1"/>
            <p:nvPr/>
          </p:nvSpPr>
          <p:spPr>
            <a:xfrm>
              <a:off x="190500" y="190500"/>
              <a:ext cx="24765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D6B20"/>
                  </a:solidFill>
                  <a:latin typeface="Poppins"/>
                  <a:ea typeface="Poppins"/>
                  <a:cs typeface="Poppins"/>
                  <a:sym typeface="Poppins"/>
                </a:rPr>
                <a:t>Platform Features</a:t>
              </a:r>
              <a:endParaRPr b="1" sz="1100">
                <a:solidFill>
                  <a:srgbClr val="DD6B2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45720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DD6B20"/>
                  </a:solidFill>
                  <a:latin typeface="Roboto"/>
                  <a:ea typeface="Roboto"/>
                  <a:cs typeface="Roboto"/>
                  <a:sym typeface="Roboto"/>
                </a:rPr>
                <a:t>✓</a:t>
              </a:r>
              <a:r>
                <a:rPr lang="en" sz="12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Temple discovery</a:t>
              </a:r>
              <a:endParaRPr sz="1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DD6B20"/>
                  </a:solidFill>
                  <a:latin typeface="Roboto"/>
                  <a:ea typeface="Roboto"/>
                  <a:cs typeface="Roboto"/>
                  <a:sym typeface="Roboto"/>
                </a:rPr>
                <a:t>✓</a:t>
              </a:r>
              <a:r>
                <a:rPr lang="en" sz="12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Temple details</a:t>
              </a:r>
              <a:endParaRPr sz="1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DD6B20"/>
                  </a:solidFill>
                  <a:latin typeface="Roboto"/>
                  <a:ea typeface="Roboto"/>
                  <a:cs typeface="Roboto"/>
                  <a:sym typeface="Roboto"/>
                </a:rPr>
                <a:t>✓</a:t>
              </a:r>
              <a:r>
                <a:rPr lang="en" sz="12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Trip planner</a:t>
              </a:r>
              <a:endParaRPr sz="1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DD6B20"/>
                  </a:solidFill>
                  <a:latin typeface="Roboto"/>
                  <a:ea typeface="Roboto"/>
                  <a:cs typeface="Roboto"/>
                  <a:sym typeface="Roboto"/>
                </a:rPr>
                <a:t>✓</a:t>
              </a:r>
              <a:r>
                <a:rPr lang="en" sz="12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Route and budget support</a:t>
              </a:r>
              <a:endParaRPr sz="1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DD6B20"/>
                  </a:solidFill>
                  <a:latin typeface="Roboto"/>
                  <a:ea typeface="Roboto"/>
                  <a:cs typeface="Roboto"/>
                  <a:sym typeface="Roboto"/>
                </a:rPr>
                <a:t>✓</a:t>
              </a:r>
              <a:r>
                <a:rPr lang="en" sz="12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Recommendation output</a:t>
              </a:r>
              <a:endParaRPr sz="1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DD6B20"/>
                  </a:solidFill>
                  <a:latin typeface="Roboto"/>
                  <a:ea typeface="Roboto"/>
                  <a:cs typeface="Roboto"/>
                  <a:sym typeface="Roboto"/>
                </a:rPr>
                <a:t>✓</a:t>
              </a:r>
              <a:r>
                <a:rPr lang="en" sz="12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Responsive UI</a:t>
              </a:r>
              <a:endParaRPr sz="1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1" name="Google Shape;91;p15"/>
          <p:cNvGrpSpPr/>
          <p:nvPr/>
        </p:nvGrpSpPr>
        <p:grpSpPr>
          <a:xfrm>
            <a:off x="152400" y="4095750"/>
            <a:ext cx="8839200" cy="619200"/>
            <a:chOff x="0" y="0"/>
            <a:chExt cx="8839200" cy="619200"/>
          </a:xfrm>
        </p:grpSpPr>
        <p:sp>
          <p:nvSpPr>
            <p:cNvPr id="92" name="Google Shape;92;p15"/>
            <p:cNvSpPr/>
            <p:nvPr/>
          </p:nvSpPr>
          <p:spPr>
            <a:xfrm>
              <a:off x="0" y="0"/>
              <a:ext cx="8839200" cy="619200"/>
            </a:xfrm>
            <a:prstGeom prst="roundRect">
              <a:avLst>
                <a:gd fmla="val 18461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3" name="Google Shape;93;p15"/>
            <p:cNvPicPr preferRelativeResize="0"/>
            <p:nvPr/>
          </p:nvPicPr>
          <p:blipFill rotWithShape="1">
            <a:blip r:embed="rId3">
              <a:alphaModFix/>
            </a:blip>
            <a:srcRect b="0" l="60" r="60" t="0"/>
            <a:stretch/>
          </p:blipFill>
          <p:spPr>
            <a:xfrm>
              <a:off x="133350" y="100013"/>
              <a:ext cx="8572500" cy="4191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4" name="Google Shape;94;p15" title="homep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6225" y="1285875"/>
            <a:ext cx="4723652" cy="249597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311700" y="275900"/>
            <a:ext cx="3363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477"/>
              <a:buFont typeface="Arial"/>
              <a:buNone/>
            </a:pPr>
            <a:r>
              <a:rPr lang="en" sz="2430">
                <a:latin typeface="Poppins SemiBold"/>
                <a:ea typeface="Poppins SemiBold"/>
                <a:cs typeface="Poppins SemiBold"/>
                <a:sym typeface="Poppins SemiBold"/>
              </a:rPr>
              <a:t>Architecture layers:</a:t>
            </a:r>
            <a:endParaRPr sz="243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00" name="Google Shape;100;p16" title="techsta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400" y="699125"/>
            <a:ext cx="8435551" cy="43197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 SemiBold"/>
                <a:ea typeface="Poppins SemiBold"/>
                <a:cs typeface="Poppins SemiBold"/>
                <a:sym typeface="Poppins SemiBold"/>
              </a:rPr>
              <a:t>From idea to deployed cloud project</a:t>
            </a:r>
            <a:endParaRPr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06" name="Google Shape;106;p17" title="Github_Branches.png"/>
          <p:cNvPicPr preferRelativeResize="0"/>
          <p:nvPr/>
        </p:nvPicPr>
        <p:blipFill rotWithShape="1">
          <a:blip r:embed="rId3">
            <a:alphaModFix/>
          </a:blip>
          <a:srcRect b="20850" l="13590" r="15109" t="9629"/>
          <a:stretch/>
        </p:blipFill>
        <p:spPr>
          <a:xfrm>
            <a:off x="427375" y="1451775"/>
            <a:ext cx="6072177" cy="35842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" name="Google Shape;107;p17" title="Raw Data to Insight Flow-2026-07-01-1450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150" y="1017725"/>
            <a:ext cx="8288102" cy="38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/>
        </p:nvSpPr>
        <p:spPr>
          <a:xfrm>
            <a:off x="428625" y="428625"/>
            <a:ext cx="2952900" cy="4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25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Key Features</a:t>
            </a:r>
            <a:endParaRPr b="1" sz="1625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625">
                <a:solidFill>
                  <a:srgbClr val="2563EB"/>
                </a:solidFill>
                <a:highlight>
                  <a:srgbClr val="EFF6FF"/>
                </a:highlight>
                <a:latin typeface="Poppins"/>
                <a:ea typeface="Poppins"/>
                <a:cs typeface="Poppins"/>
                <a:sym typeface="Poppins"/>
              </a:rPr>
              <a:t>1</a:t>
            </a:r>
            <a:endParaRPr sz="875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" sz="78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Temple Search</a:t>
            </a:r>
            <a:endParaRPr b="0" sz="781">
              <a:solidFill>
                <a:srgbClr val="1E293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284163" lvl="0" marL="457200" rtl="0" algn="l">
              <a:spcBef>
                <a:spcPts val="150"/>
              </a:spcBef>
              <a:spcAft>
                <a:spcPts val="0"/>
              </a:spcAft>
              <a:buSzPts val="875"/>
              <a:buFont typeface="Poppins"/>
              <a:buChar char="●"/>
            </a:pPr>
            <a:r>
              <a:rPr lang="en" sz="656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Easily find and filter sacred destinations.</a:t>
            </a:r>
            <a:endParaRPr sz="656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" sz="625">
                <a:solidFill>
                  <a:srgbClr val="2563EB"/>
                </a:solidFill>
                <a:highlight>
                  <a:srgbClr val="EFF6FF"/>
                </a:highlight>
                <a:latin typeface="Poppins"/>
                <a:ea typeface="Poppins"/>
                <a:cs typeface="Poppins"/>
                <a:sym typeface="Poppins"/>
              </a:rPr>
              <a:t>2</a:t>
            </a:r>
            <a:endParaRPr sz="875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" sz="78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Trip Planner</a:t>
            </a:r>
            <a:endParaRPr b="0" sz="781">
              <a:solidFill>
                <a:srgbClr val="1E293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284163" lvl="0" marL="457200" rtl="0" algn="l">
              <a:spcBef>
                <a:spcPts val="150"/>
              </a:spcBef>
              <a:spcAft>
                <a:spcPts val="0"/>
              </a:spcAft>
              <a:buSzPts val="875"/>
              <a:buFont typeface="Poppins"/>
              <a:buChar char="●"/>
            </a:pPr>
            <a:r>
              <a:rPr lang="en" sz="656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Customize budgets, days, and routes.</a:t>
            </a:r>
            <a:endParaRPr sz="656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" sz="625">
                <a:solidFill>
                  <a:srgbClr val="2563EB"/>
                </a:solidFill>
                <a:highlight>
                  <a:srgbClr val="EFF6FF"/>
                </a:highlight>
                <a:latin typeface="Poppins"/>
                <a:ea typeface="Poppins"/>
                <a:cs typeface="Poppins"/>
                <a:sym typeface="Poppins"/>
              </a:rPr>
              <a:t>3</a:t>
            </a:r>
            <a:endParaRPr sz="875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" sz="78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Recommendations</a:t>
            </a:r>
            <a:endParaRPr b="0" sz="781">
              <a:solidFill>
                <a:srgbClr val="1E293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284163" lvl="0" marL="457200" rtl="0" algn="l">
              <a:spcBef>
                <a:spcPts val="150"/>
              </a:spcBef>
              <a:spcAft>
                <a:spcPts val="0"/>
              </a:spcAft>
              <a:buSzPts val="875"/>
              <a:buFont typeface="Poppins"/>
              <a:buChar char="●"/>
            </a:pPr>
            <a:r>
              <a:rPr lang="en" sz="656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Get smart, optimized itinerary suggestions.</a:t>
            </a:r>
            <a:endParaRPr sz="656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" sz="625">
                <a:solidFill>
                  <a:srgbClr val="2563EB"/>
                </a:solidFill>
                <a:highlight>
                  <a:srgbClr val="EFF6FF"/>
                </a:highlight>
                <a:latin typeface="Poppins"/>
                <a:ea typeface="Poppins"/>
                <a:cs typeface="Poppins"/>
                <a:sym typeface="Poppins"/>
              </a:rPr>
              <a:t>4</a:t>
            </a:r>
            <a:endParaRPr sz="875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" sz="78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Explore</a:t>
            </a:r>
            <a:endParaRPr b="0" sz="781">
              <a:solidFill>
                <a:srgbClr val="1E293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284163" lvl="0" marL="457200" rtl="0" algn="l">
              <a:spcBef>
                <a:spcPts val="150"/>
              </a:spcBef>
              <a:spcAft>
                <a:spcPts val="0"/>
              </a:spcAft>
              <a:buSzPts val="875"/>
              <a:buFont typeface="Poppins"/>
              <a:buChar char="●"/>
            </a:pPr>
            <a:r>
              <a:rPr lang="en" sz="656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Discover nearby attractions and services.</a:t>
            </a:r>
            <a:endParaRPr sz="656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" sz="625">
                <a:solidFill>
                  <a:srgbClr val="2563EB"/>
                </a:solidFill>
                <a:highlight>
                  <a:srgbClr val="EFF6FF"/>
                </a:highlight>
                <a:latin typeface="Poppins"/>
                <a:ea typeface="Poppins"/>
                <a:cs typeface="Poppins"/>
                <a:sym typeface="Poppins"/>
              </a:rPr>
              <a:t>5</a:t>
            </a:r>
            <a:endParaRPr sz="875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" sz="78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About &amp; Info</a:t>
            </a:r>
            <a:endParaRPr b="0" sz="781">
              <a:solidFill>
                <a:srgbClr val="1E293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284163" lvl="0" marL="457200" rtl="0" algn="l">
              <a:spcBef>
                <a:spcPts val="150"/>
              </a:spcBef>
              <a:spcAft>
                <a:spcPts val="0"/>
              </a:spcAft>
              <a:buSzPts val="875"/>
              <a:buFont typeface="Poppins"/>
              <a:buChar char="●"/>
            </a:pPr>
            <a:r>
              <a:rPr lang="en" sz="656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Access project background and credentials.</a:t>
            </a:r>
            <a:endParaRPr sz="656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1" lang="en" sz="625">
                <a:solidFill>
                  <a:srgbClr val="2563EB"/>
                </a:solidFill>
                <a:highlight>
                  <a:srgbClr val="EFF6FF"/>
                </a:highlight>
                <a:latin typeface="Poppins"/>
                <a:ea typeface="Poppins"/>
                <a:cs typeface="Poppins"/>
                <a:sym typeface="Poppins"/>
              </a:rPr>
              <a:t>6</a:t>
            </a:r>
            <a:endParaRPr sz="875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78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Responsive UI</a:t>
            </a:r>
            <a:endParaRPr b="0" sz="781">
              <a:solidFill>
                <a:srgbClr val="1E293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284163" lvl="0" marL="457200" rtl="0" algn="l">
              <a:spcBef>
                <a:spcPts val="150"/>
              </a:spcBef>
              <a:spcAft>
                <a:spcPts val="0"/>
              </a:spcAft>
              <a:buSzPts val="875"/>
              <a:buFont typeface="Poppins"/>
              <a:buChar char="●"/>
            </a:pPr>
            <a:r>
              <a:rPr lang="en" sz="656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Seamless experience on mobile and desktop.</a:t>
            </a:r>
            <a:endParaRPr sz="656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13" name="Google Shape;113;p18"/>
          <p:cNvGrpSpPr/>
          <p:nvPr/>
        </p:nvGrpSpPr>
        <p:grpSpPr>
          <a:xfrm>
            <a:off x="3667125" y="428625"/>
            <a:ext cx="2428800" cy="2000100"/>
            <a:chOff x="0" y="0"/>
            <a:chExt cx="2428800" cy="2000100"/>
          </a:xfrm>
        </p:grpSpPr>
        <p:pic>
          <p:nvPicPr>
            <p:cNvPr id="114" name="Google Shape;114;p18"/>
            <p:cNvPicPr preferRelativeResize="0"/>
            <p:nvPr/>
          </p:nvPicPr>
          <p:blipFill rotWithShape="1">
            <a:blip r:embed="rId4">
              <a:alphaModFix/>
            </a:blip>
            <a:srcRect b="0" l="18233" r="18239" t="0"/>
            <a:stretch/>
          </p:blipFill>
          <p:spPr>
            <a:xfrm>
              <a:off x="0" y="0"/>
              <a:ext cx="2428800" cy="2000100"/>
            </a:xfrm>
            <a:prstGeom prst="roundRect">
              <a:avLst>
                <a:gd fmla="val 4761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5" name="Google Shape;115;p18"/>
            <p:cNvSpPr/>
            <p:nvPr/>
          </p:nvSpPr>
          <p:spPr>
            <a:xfrm>
              <a:off x="0" y="0"/>
              <a:ext cx="2428800" cy="2000100"/>
            </a:xfrm>
            <a:prstGeom prst="roundRect">
              <a:avLst>
                <a:gd fmla="val 4761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" name="Google Shape;116;p18"/>
          <p:cNvGrpSpPr/>
          <p:nvPr/>
        </p:nvGrpSpPr>
        <p:grpSpPr>
          <a:xfrm>
            <a:off x="6286500" y="428625"/>
            <a:ext cx="2428800" cy="2000100"/>
            <a:chOff x="0" y="0"/>
            <a:chExt cx="2428800" cy="2000100"/>
          </a:xfrm>
        </p:grpSpPr>
        <p:pic>
          <p:nvPicPr>
            <p:cNvPr id="117" name="Google Shape;117;p18"/>
            <p:cNvPicPr preferRelativeResize="0"/>
            <p:nvPr/>
          </p:nvPicPr>
          <p:blipFill rotWithShape="1">
            <a:blip r:embed="rId5">
              <a:alphaModFix/>
            </a:blip>
            <a:srcRect b="0" l="15861" r="15861" t="0"/>
            <a:stretch/>
          </p:blipFill>
          <p:spPr>
            <a:xfrm>
              <a:off x="0" y="0"/>
              <a:ext cx="2428800" cy="2000100"/>
            </a:xfrm>
            <a:prstGeom prst="roundRect">
              <a:avLst>
                <a:gd fmla="val 4761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18" name="Google Shape;118;p18"/>
            <p:cNvSpPr/>
            <p:nvPr/>
          </p:nvSpPr>
          <p:spPr>
            <a:xfrm>
              <a:off x="0" y="0"/>
              <a:ext cx="2428800" cy="2000100"/>
            </a:xfrm>
            <a:prstGeom prst="roundRect">
              <a:avLst>
                <a:gd fmla="val 4761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18"/>
          <p:cNvGrpSpPr/>
          <p:nvPr/>
        </p:nvGrpSpPr>
        <p:grpSpPr>
          <a:xfrm>
            <a:off x="3667125" y="2619375"/>
            <a:ext cx="2428800" cy="2095500"/>
            <a:chOff x="0" y="0"/>
            <a:chExt cx="2428800" cy="2095500"/>
          </a:xfrm>
        </p:grpSpPr>
        <p:pic>
          <p:nvPicPr>
            <p:cNvPr id="120" name="Google Shape;120;p18"/>
            <p:cNvPicPr preferRelativeResize="0"/>
            <p:nvPr/>
          </p:nvPicPr>
          <p:blipFill rotWithShape="1">
            <a:blip r:embed="rId6">
              <a:alphaModFix/>
            </a:blip>
            <a:srcRect b="0" l="17444" r="17444" t="0"/>
            <a:stretch/>
          </p:blipFill>
          <p:spPr>
            <a:xfrm>
              <a:off x="0" y="0"/>
              <a:ext cx="2428800" cy="2095500"/>
            </a:xfrm>
            <a:prstGeom prst="roundRect">
              <a:avLst>
                <a:gd fmla="val 4545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21" name="Google Shape;121;p18"/>
            <p:cNvSpPr/>
            <p:nvPr/>
          </p:nvSpPr>
          <p:spPr>
            <a:xfrm>
              <a:off x="0" y="0"/>
              <a:ext cx="2428800" cy="2095500"/>
            </a:xfrm>
            <a:prstGeom prst="roundRect">
              <a:avLst>
                <a:gd fmla="val 4545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" name="Google Shape;122;p18"/>
          <p:cNvGrpSpPr/>
          <p:nvPr/>
        </p:nvGrpSpPr>
        <p:grpSpPr>
          <a:xfrm>
            <a:off x="6286500" y="2619375"/>
            <a:ext cx="2428800" cy="2095500"/>
            <a:chOff x="0" y="0"/>
            <a:chExt cx="2428800" cy="2095500"/>
          </a:xfrm>
        </p:grpSpPr>
        <p:pic>
          <p:nvPicPr>
            <p:cNvPr id="123" name="Google Shape;123;p18"/>
            <p:cNvPicPr preferRelativeResize="0"/>
            <p:nvPr/>
          </p:nvPicPr>
          <p:blipFill rotWithShape="1">
            <a:blip r:embed="rId7">
              <a:alphaModFix/>
            </a:blip>
            <a:srcRect b="0" l="17414" r="17414" t="0"/>
            <a:stretch/>
          </p:blipFill>
          <p:spPr>
            <a:xfrm>
              <a:off x="0" y="0"/>
              <a:ext cx="2428800" cy="2095500"/>
            </a:xfrm>
            <a:prstGeom prst="roundRect">
              <a:avLst>
                <a:gd fmla="val 4545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24" name="Google Shape;124;p18"/>
            <p:cNvSpPr/>
            <p:nvPr/>
          </p:nvSpPr>
          <p:spPr>
            <a:xfrm>
              <a:off x="0" y="0"/>
              <a:ext cx="2428800" cy="2095500"/>
            </a:xfrm>
            <a:prstGeom prst="roundRect">
              <a:avLst>
                <a:gd fmla="val 4545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/>
        </p:nvSpPr>
        <p:spPr>
          <a:xfrm>
            <a:off x="571500" y="42862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Dual Deployment Architecture</a:t>
            </a:r>
            <a:endParaRPr b="1" sz="24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0" name="Google Shape;130;p19"/>
          <p:cNvGrpSpPr/>
          <p:nvPr/>
        </p:nvGrpSpPr>
        <p:grpSpPr>
          <a:xfrm>
            <a:off x="571500" y="1238250"/>
            <a:ext cx="3714900" cy="3286200"/>
            <a:chOff x="0" y="0"/>
            <a:chExt cx="3714900" cy="3286200"/>
          </a:xfrm>
        </p:grpSpPr>
        <p:sp>
          <p:nvSpPr>
            <p:cNvPr id="131" name="Google Shape;131;p19"/>
            <p:cNvSpPr/>
            <p:nvPr/>
          </p:nvSpPr>
          <p:spPr>
            <a:xfrm>
              <a:off x="0" y="0"/>
              <a:ext cx="3714900" cy="3286200"/>
            </a:xfrm>
            <a:prstGeom prst="roundRect">
              <a:avLst>
                <a:gd fmla="val 46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9"/>
            <p:cNvSpPr/>
            <p:nvPr/>
          </p:nvSpPr>
          <p:spPr>
            <a:xfrm>
              <a:off x="0" y="0"/>
              <a:ext cx="3714900" cy="228600"/>
            </a:xfrm>
            <a:custGeom>
              <a:rect b="b" l="l" r="r" t="t"/>
              <a:pathLst>
                <a:path extrusionOk="0" h="120000" w="120000">
                  <a:moveTo>
                    <a:pt x="0" y="80000"/>
                  </a:moveTo>
                  <a:cubicBezTo>
                    <a:pt x="0" y="35817"/>
                    <a:pt x="2204" y="0"/>
                    <a:pt x="4923" y="0"/>
                  </a:cubicBezTo>
                  <a:lnTo>
                    <a:pt x="115077" y="0"/>
                  </a:lnTo>
                  <a:cubicBezTo>
                    <a:pt x="117796" y="1"/>
                    <a:pt x="120000" y="35818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4292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9"/>
            <p:cNvSpPr txBox="1"/>
            <p:nvPr/>
          </p:nvSpPr>
          <p:spPr>
            <a:xfrm>
              <a:off x="228600" y="381000"/>
              <a:ext cx="3257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GitHub Deployment </a:t>
              </a:r>
              <a:endParaRPr b="1" sz="16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34" name="Google Shape;134;p19"/>
            <p:cNvGrpSpPr/>
            <p:nvPr/>
          </p:nvGrpSpPr>
          <p:grpSpPr>
            <a:xfrm>
              <a:off x="228600" y="952500"/>
              <a:ext cx="3257700" cy="476400"/>
              <a:chOff x="0" y="0"/>
              <a:chExt cx="3257700" cy="476400"/>
            </a:xfrm>
          </p:grpSpPr>
          <p:sp>
            <p:nvSpPr>
              <p:cNvPr id="135" name="Google Shape;135;p19"/>
              <p:cNvSpPr txBox="1"/>
              <p:nvPr/>
            </p:nvSpPr>
            <p:spPr>
              <a:xfrm>
                <a:off x="0" y="2921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4F46E5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public</a:t>
                </a:r>
                <a:endParaRPr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6" name="Google Shape;136;p19"/>
              <p:cNvSpPr txBox="1"/>
              <p:nvPr/>
            </p:nvSpPr>
            <p:spPr>
              <a:xfrm>
                <a:off x="419100" y="0"/>
                <a:ext cx="28386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1E293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GitHub Pages </a:t>
                </a:r>
                <a:endParaRPr sz="1200">
                  <a:solidFill>
                    <a:srgbClr val="1E293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Web hosting for static content</a:t>
                </a:r>
                <a:endParaRPr b="0" sz="10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37" name="Google Shape;137;p19"/>
            <p:cNvGrpSpPr/>
            <p:nvPr/>
          </p:nvGrpSpPr>
          <p:grpSpPr>
            <a:xfrm>
              <a:off x="228600" y="1666875"/>
              <a:ext cx="3257700" cy="476400"/>
              <a:chOff x="0" y="0"/>
              <a:chExt cx="3257700" cy="476400"/>
            </a:xfrm>
          </p:grpSpPr>
          <p:sp>
            <p:nvSpPr>
              <p:cNvPr id="138" name="Google Shape;138;p19"/>
              <p:cNvSpPr txBox="1"/>
              <p:nvPr/>
            </p:nvSpPr>
            <p:spPr>
              <a:xfrm>
                <a:off x="0" y="2921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4F46E5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build</a:t>
                </a:r>
                <a:endParaRPr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9" name="Google Shape;139;p19"/>
              <p:cNvSpPr txBox="1"/>
              <p:nvPr/>
            </p:nvSpPr>
            <p:spPr>
              <a:xfrm>
                <a:off x="419100" y="0"/>
                <a:ext cx="28386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1E293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React build </a:t>
                </a:r>
                <a:endParaRPr sz="1200">
                  <a:solidFill>
                    <a:srgbClr val="1E293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Compiled frontend assets</a:t>
                </a:r>
                <a:endParaRPr b="0" sz="10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40" name="Google Shape;140;p19"/>
            <p:cNvGrpSpPr/>
            <p:nvPr/>
          </p:nvGrpSpPr>
          <p:grpSpPr>
            <a:xfrm>
              <a:off x="228600" y="2381250"/>
              <a:ext cx="3257700" cy="476400"/>
              <a:chOff x="0" y="0"/>
              <a:chExt cx="3257700" cy="476400"/>
            </a:xfrm>
          </p:grpSpPr>
          <p:sp>
            <p:nvSpPr>
              <p:cNvPr id="141" name="Google Shape;141;p19"/>
              <p:cNvSpPr txBox="1"/>
              <p:nvPr/>
            </p:nvSpPr>
            <p:spPr>
              <a:xfrm>
                <a:off x="0" y="29210"/>
                <a:ext cx="3048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>
                    <a:solidFill>
                      <a:srgbClr val="4F46E5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devices</a:t>
                </a:r>
                <a:endParaRPr sz="2000">
                  <a:solidFill>
                    <a:srgbClr val="4F46E5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42" name="Google Shape;142;p19"/>
              <p:cNvSpPr txBox="1"/>
              <p:nvPr/>
            </p:nvSpPr>
            <p:spPr>
              <a:xfrm>
                <a:off x="419100" y="0"/>
                <a:ext cx="28386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1E293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Public frontend output </a:t>
                </a:r>
                <a:endParaRPr sz="1200">
                  <a:solidFill>
                    <a:srgbClr val="1E293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User-accessible web interface</a:t>
                </a:r>
                <a:endParaRPr b="0" sz="10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143" name="Google Shape;143;p19"/>
          <p:cNvGrpSpPr/>
          <p:nvPr/>
        </p:nvGrpSpPr>
        <p:grpSpPr>
          <a:xfrm>
            <a:off x="4857750" y="1238250"/>
            <a:ext cx="3714900" cy="3286200"/>
            <a:chOff x="0" y="0"/>
            <a:chExt cx="3714900" cy="3286200"/>
          </a:xfrm>
        </p:grpSpPr>
        <p:sp>
          <p:nvSpPr>
            <p:cNvPr id="144" name="Google Shape;144;p19"/>
            <p:cNvSpPr/>
            <p:nvPr/>
          </p:nvSpPr>
          <p:spPr>
            <a:xfrm>
              <a:off x="0" y="0"/>
              <a:ext cx="3714900" cy="3286200"/>
            </a:xfrm>
            <a:prstGeom prst="roundRect">
              <a:avLst>
                <a:gd fmla="val 463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0" y="0"/>
              <a:ext cx="3714900" cy="228600"/>
            </a:xfrm>
            <a:custGeom>
              <a:rect b="b" l="l" r="r" t="t"/>
              <a:pathLst>
                <a:path extrusionOk="0" h="120000" w="120000">
                  <a:moveTo>
                    <a:pt x="0" y="80000"/>
                  </a:moveTo>
                  <a:cubicBezTo>
                    <a:pt x="0" y="35817"/>
                    <a:pt x="2204" y="0"/>
                    <a:pt x="4923" y="0"/>
                  </a:cubicBezTo>
                  <a:lnTo>
                    <a:pt x="115077" y="0"/>
                  </a:lnTo>
                  <a:cubicBezTo>
                    <a:pt x="117796" y="1"/>
                    <a:pt x="120000" y="35818"/>
                    <a:pt x="120000" y="8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9"/>
            <p:cNvSpPr txBox="1"/>
            <p:nvPr/>
          </p:nvSpPr>
          <p:spPr>
            <a:xfrm>
              <a:off x="228600" y="381000"/>
              <a:ext cx="3257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AWS Deployment </a:t>
              </a:r>
              <a:endParaRPr b="1" sz="16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47" name="Google Shape;147;p19"/>
            <p:cNvGrpSpPr/>
            <p:nvPr/>
          </p:nvGrpSpPr>
          <p:grpSpPr>
            <a:xfrm>
              <a:off x="228600" y="857250"/>
              <a:ext cx="3257700" cy="285900"/>
              <a:chOff x="0" y="0"/>
              <a:chExt cx="3257700" cy="285900"/>
            </a:xfrm>
          </p:grpSpPr>
          <p:sp>
            <p:nvSpPr>
              <p:cNvPr id="148" name="Google Shape;148;p19"/>
              <p:cNvSpPr txBox="1"/>
              <p:nvPr/>
            </p:nvSpPr>
            <p:spPr>
              <a:xfrm>
                <a:off x="0" y="2336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rgbClr val="FF990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dns</a:t>
                </a:r>
                <a:endParaRPr sz="1600">
                  <a:solidFill>
                    <a:srgbClr val="FF990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49" name="Google Shape;149;p19"/>
              <p:cNvSpPr txBox="1"/>
              <p:nvPr/>
            </p:nvSpPr>
            <p:spPr>
              <a:xfrm>
                <a:off x="342900" y="0"/>
                <a:ext cx="29148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E293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EC2 </a:t>
                </a:r>
                <a:r>
                  <a:rPr b="0" lang="en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 Virtual Server </a:t>
                </a:r>
                <a:endParaRPr b="0" sz="1100">
                  <a:solidFill>
                    <a:srgbClr val="1E293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150" name="Google Shape;150;p19"/>
            <p:cNvGrpSpPr/>
            <p:nvPr/>
          </p:nvGrpSpPr>
          <p:grpSpPr>
            <a:xfrm>
              <a:off x="228600" y="1238250"/>
              <a:ext cx="3257700" cy="285900"/>
              <a:chOff x="0" y="0"/>
              <a:chExt cx="3257700" cy="285900"/>
            </a:xfrm>
          </p:grpSpPr>
          <p:sp>
            <p:nvSpPr>
              <p:cNvPr id="151" name="Google Shape;151;p19"/>
              <p:cNvSpPr txBox="1"/>
              <p:nvPr/>
            </p:nvSpPr>
            <p:spPr>
              <a:xfrm>
                <a:off x="0" y="2336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rgbClr val="FF990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router</a:t>
                </a:r>
                <a:endParaRPr sz="1600">
                  <a:solidFill>
                    <a:srgbClr val="FF990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52" name="Google Shape;152;p19"/>
              <p:cNvSpPr txBox="1"/>
              <p:nvPr/>
            </p:nvSpPr>
            <p:spPr>
              <a:xfrm>
                <a:off x="342900" y="0"/>
                <a:ext cx="29148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E293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Nginx </a:t>
                </a:r>
                <a:r>
                  <a:rPr b="0" lang="en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 Web Server &amp; Reverse Proxy </a:t>
                </a:r>
                <a:endParaRPr b="0" sz="1100">
                  <a:solidFill>
                    <a:srgbClr val="1E293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153" name="Google Shape;153;p19"/>
            <p:cNvGrpSpPr/>
            <p:nvPr/>
          </p:nvGrpSpPr>
          <p:grpSpPr>
            <a:xfrm>
              <a:off x="228600" y="1619250"/>
              <a:ext cx="3257700" cy="285900"/>
              <a:chOff x="0" y="0"/>
              <a:chExt cx="3257700" cy="285900"/>
            </a:xfrm>
          </p:grpSpPr>
          <p:sp>
            <p:nvSpPr>
              <p:cNvPr id="154" name="Google Shape;154;p19"/>
              <p:cNvSpPr txBox="1"/>
              <p:nvPr/>
            </p:nvSpPr>
            <p:spPr>
              <a:xfrm>
                <a:off x="0" y="2336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rgbClr val="FF990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settings_input_component</a:t>
                </a:r>
                <a:endParaRPr sz="1600">
                  <a:solidFill>
                    <a:srgbClr val="FF990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55" name="Google Shape;155;p19"/>
              <p:cNvSpPr txBox="1"/>
              <p:nvPr/>
            </p:nvSpPr>
            <p:spPr>
              <a:xfrm>
                <a:off x="342900" y="0"/>
                <a:ext cx="29148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E293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Gunicorn </a:t>
                </a:r>
                <a:r>
                  <a:rPr b="0" lang="en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 WSGI Server </a:t>
                </a:r>
                <a:endParaRPr b="0" sz="1100">
                  <a:solidFill>
                    <a:srgbClr val="1E293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156" name="Google Shape;156;p19"/>
            <p:cNvGrpSpPr/>
            <p:nvPr/>
          </p:nvGrpSpPr>
          <p:grpSpPr>
            <a:xfrm>
              <a:off x="228600" y="2000250"/>
              <a:ext cx="3257700" cy="285900"/>
              <a:chOff x="0" y="0"/>
              <a:chExt cx="3257700" cy="285900"/>
            </a:xfrm>
          </p:grpSpPr>
          <p:sp>
            <p:nvSpPr>
              <p:cNvPr id="157" name="Google Shape;157;p19"/>
              <p:cNvSpPr txBox="1"/>
              <p:nvPr/>
            </p:nvSpPr>
            <p:spPr>
              <a:xfrm>
                <a:off x="0" y="2336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rgbClr val="FF990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layers</a:t>
                </a:r>
                <a:endParaRPr sz="1600">
                  <a:solidFill>
                    <a:srgbClr val="FF990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58" name="Google Shape;158;p19"/>
              <p:cNvSpPr txBox="1"/>
              <p:nvPr/>
            </p:nvSpPr>
            <p:spPr>
              <a:xfrm>
                <a:off x="342900" y="0"/>
                <a:ext cx="29148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E293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Flask </a:t>
                </a:r>
                <a:r>
                  <a:rPr b="0" lang="en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 Python Web Framework </a:t>
                </a:r>
                <a:endParaRPr b="0" sz="1100">
                  <a:solidFill>
                    <a:srgbClr val="1E293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159" name="Google Shape;159;p19"/>
            <p:cNvGrpSpPr/>
            <p:nvPr/>
          </p:nvGrpSpPr>
          <p:grpSpPr>
            <a:xfrm>
              <a:off x="228600" y="2381250"/>
              <a:ext cx="3257700" cy="285900"/>
              <a:chOff x="0" y="0"/>
              <a:chExt cx="3257700" cy="285900"/>
            </a:xfrm>
          </p:grpSpPr>
          <p:sp>
            <p:nvSpPr>
              <p:cNvPr id="160" name="Google Shape;160;p19"/>
              <p:cNvSpPr txBox="1"/>
              <p:nvPr/>
            </p:nvSpPr>
            <p:spPr>
              <a:xfrm>
                <a:off x="0" y="2336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rgbClr val="FF990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storage</a:t>
                </a:r>
                <a:endParaRPr sz="1600">
                  <a:solidFill>
                    <a:srgbClr val="FF990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61" name="Google Shape;161;p19"/>
              <p:cNvSpPr txBox="1"/>
              <p:nvPr/>
            </p:nvSpPr>
            <p:spPr>
              <a:xfrm>
                <a:off x="342900" y="0"/>
                <a:ext cx="29148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E293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RDS </a:t>
                </a:r>
                <a:r>
                  <a:rPr b="0" lang="en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 Relational Database </a:t>
                </a:r>
                <a:endParaRPr b="0" sz="1100">
                  <a:solidFill>
                    <a:srgbClr val="1E293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grpSp>
          <p:nvGrpSpPr>
            <p:cNvPr id="162" name="Google Shape;162;p19"/>
            <p:cNvGrpSpPr/>
            <p:nvPr/>
          </p:nvGrpSpPr>
          <p:grpSpPr>
            <a:xfrm>
              <a:off x="228600" y="2762250"/>
              <a:ext cx="3257700" cy="285900"/>
              <a:chOff x="0" y="0"/>
              <a:chExt cx="3257700" cy="285900"/>
            </a:xfrm>
          </p:grpSpPr>
          <p:sp>
            <p:nvSpPr>
              <p:cNvPr id="163" name="Google Shape;163;p19"/>
              <p:cNvSpPr txBox="1"/>
              <p:nvPr/>
            </p:nvSpPr>
            <p:spPr>
              <a:xfrm>
                <a:off x="0" y="23368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rgbClr val="FF990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visibility</a:t>
                </a:r>
                <a:endParaRPr sz="1600">
                  <a:solidFill>
                    <a:srgbClr val="FF990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64" name="Google Shape;164;p19"/>
              <p:cNvSpPr txBox="1"/>
              <p:nvPr/>
            </p:nvSpPr>
            <p:spPr>
              <a:xfrm>
                <a:off x="342900" y="0"/>
                <a:ext cx="29148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1E293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CloudWatch </a:t>
                </a:r>
                <a:r>
                  <a:rPr b="0" lang="en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 Monitoring Service </a:t>
                </a:r>
                <a:endParaRPr b="0" sz="1100">
                  <a:solidFill>
                    <a:srgbClr val="1E293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/>
        </p:nvSpPr>
        <p:spPr>
          <a:xfrm>
            <a:off x="571500" y="3810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Team Contributions</a:t>
            </a:r>
            <a:endParaRPr b="1" sz="24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0" name="Google Shape;170;p20"/>
          <p:cNvGrpSpPr/>
          <p:nvPr/>
        </p:nvGrpSpPr>
        <p:grpSpPr>
          <a:xfrm>
            <a:off x="571500" y="1047750"/>
            <a:ext cx="4000500" cy="619200"/>
            <a:chOff x="0" y="0"/>
            <a:chExt cx="4000500" cy="619200"/>
          </a:xfrm>
        </p:grpSpPr>
        <p:sp>
          <p:nvSpPr>
            <p:cNvPr id="171" name="Google Shape;171;p20"/>
            <p:cNvSpPr/>
            <p:nvPr/>
          </p:nvSpPr>
          <p:spPr>
            <a:xfrm>
              <a:off x="0" y="0"/>
              <a:ext cx="4000500" cy="619200"/>
            </a:xfrm>
            <a:prstGeom prst="roundRect">
              <a:avLst>
                <a:gd fmla="val 1230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142875" y="119063"/>
              <a:ext cx="381000" cy="38100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0"/>
            <p:cNvSpPr txBox="1"/>
            <p:nvPr/>
          </p:nvSpPr>
          <p:spPr>
            <a:xfrm>
              <a:off x="142875" y="119063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BS</a:t>
              </a:r>
              <a:endParaRPr b="1" sz="1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619125" y="0"/>
              <a:ext cx="323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Bhargav Sai</a:t>
              </a:r>
              <a:endParaRPr b="1" sz="11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Architecture, Integration, Deployment</a:t>
              </a:r>
              <a:endParaRPr sz="95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75" name="Google Shape;175;p20"/>
          <p:cNvGrpSpPr/>
          <p:nvPr/>
        </p:nvGrpSpPr>
        <p:grpSpPr>
          <a:xfrm>
            <a:off x="571500" y="1771650"/>
            <a:ext cx="4000500" cy="619200"/>
            <a:chOff x="0" y="0"/>
            <a:chExt cx="4000500" cy="619200"/>
          </a:xfrm>
        </p:grpSpPr>
        <p:sp>
          <p:nvSpPr>
            <p:cNvPr id="176" name="Google Shape;176;p20"/>
            <p:cNvSpPr/>
            <p:nvPr/>
          </p:nvSpPr>
          <p:spPr>
            <a:xfrm>
              <a:off x="0" y="0"/>
              <a:ext cx="4000500" cy="619200"/>
            </a:xfrm>
            <a:prstGeom prst="roundRect">
              <a:avLst>
                <a:gd fmla="val 1230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142875" y="119063"/>
              <a:ext cx="381000" cy="3810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0"/>
            <p:cNvSpPr txBox="1"/>
            <p:nvPr/>
          </p:nvSpPr>
          <p:spPr>
            <a:xfrm>
              <a:off x="142875" y="119063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</a:t>
              </a:r>
              <a:endParaRPr b="1" sz="1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619125" y="0"/>
              <a:ext cx="323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Meghana</a:t>
              </a:r>
              <a:endParaRPr b="1" sz="11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Frontend, UI Validation, Assets</a:t>
              </a:r>
              <a:endParaRPr sz="95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0" name="Google Shape;180;p20"/>
          <p:cNvGrpSpPr/>
          <p:nvPr/>
        </p:nvGrpSpPr>
        <p:grpSpPr>
          <a:xfrm>
            <a:off x="571500" y="2495550"/>
            <a:ext cx="4000500" cy="619200"/>
            <a:chOff x="0" y="0"/>
            <a:chExt cx="4000500" cy="619200"/>
          </a:xfrm>
        </p:grpSpPr>
        <p:sp>
          <p:nvSpPr>
            <p:cNvPr id="181" name="Google Shape;181;p20"/>
            <p:cNvSpPr/>
            <p:nvPr/>
          </p:nvSpPr>
          <p:spPr>
            <a:xfrm>
              <a:off x="0" y="0"/>
              <a:ext cx="4000500" cy="619200"/>
            </a:xfrm>
            <a:prstGeom prst="roundRect">
              <a:avLst>
                <a:gd fmla="val 1230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142875" y="119063"/>
              <a:ext cx="381000" cy="3810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142875" y="119063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endParaRPr b="1" sz="1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619125" y="0"/>
              <a:ext cx="323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Soumya</a:t>
              </a:r>
              <a:endParaRPr b="1" sz="11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Dataset, RDS</a:t>
              </a:r>
              <a:endParaRPr sz="95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85" name="Google Shape;185;p20"/>
          <p:cNvGrpSpPr/>
          <p:nvPr/>
        </p:nvGrpSpPr>
        <p:grpSpPr>
          <a:xfrm>
            <a:off x="571500" y="3219450"/>
            <a:ext cx="4000500" cy="619200"/>
            <a:chOff x="0" y="0"/>
            <a:chExt cx="4000500" cy="619200"/>
          </a:xfrm>
        </p:grpSpPr>
        <p:sp>
          <p:nvSpPr>
            <p:cNvPr id="186" name="Google Shape;186;p20"/>
            <p:cNvSpPr/>
            <p:nvPr/>
          </p:nvSpPr>
          <p:spPr>
            <a:xfrm>
              <a:off x="0" y="0"/>
              <a:ext cx="4000500" cy="619200"/>
            </a:xfrm>
            <a:prstGeom prst="roundRect">
              <a:avLst>
                <a:gd fmla="val 1230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142875" y="119063"/>
              <a:ext cx="381000" cy="38100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142875" y="119063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V</a:t>
              </a:r>
              <a:endParaRPr b="1" sz="1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619125" y="0"/>
              <a:ext cx="323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Vishnu</a:t>
              </a:r>
              <a:endParaRPr b="1" sz="11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Testing, Monitoring</a:t>
              </a:r>
              <a:endParaRPr sz="95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90" name="Google Shape;190;p20"/>
          <p:cNvGrpSpPr/>
          <p:nvPr/>
        </p:nvGrpSpPr>
        <p:grpSpPr>
          <a:xfrm>
            <a:off x="571500" y="3943350"/>
            <a:ext cx="4000500" cy="619200"/>
            <a:chOff x="0" y="0"/>
            <a:chExt cx="4000500" cy="619200"/>
          </a:xfrm>
        </p:grpSpPr>
        <p:sp>
          <p:nvSpPr>
            <p:cNvPr id="191" name="Google Shape;191;p20"/>
            <p:cNvSpPr/>
            <p:nvPr/>
          </p:nvSpPr>
          <p:spPr>
            <a:xfrm>
              <a:off x="0" y="0"/>
              <a:ext cx="4000500" cy="619200"/>
            </a:xfrm>
            <a:prstGeom prst="roundRect">
              <a:avLst>
                <a:gd fmla="val 1230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142875" y="119063"/>
              <a:ext cx="381000" cy="3810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0"/>
            <p:cNvSpPr txBox="1"/>
            <p:nvPr/>
          </p:nvSpPr>
          <p:spPr>
            <a:xfrm>
              <a:off x="142875" y="119063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endParaRPr b="1" sz="1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619125" y="0"/>
              <a:ext cx="3238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Sowmya</a:t>
              </a:r>
              <a:endParaRPr b="1" sz="11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IAM, Documentation</a:t>
              </a:r>
              <a:endParaRPr sz="95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95" name="Google Shape;195;p20"/>
          <p:cNvSpPr txBox="1"/>
          <p:nvPr/>
        </p:nvSpPr>
        <p:spPr>
          <a:xfrm>
            <a:off x="4953000" y="857250"/>
            <a:ext cx="3619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REPOSITORY ACCESS CONTROLS</a:t>
            </a:r>
            <a:endParaRPr b="0" sz="1000">
              <a:solidFill>
                <a:srgbClr val="64748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96" name="Google Shape;196;p20"/>
          <p:cNvGrpSpPr/>
          <p:nvPr/>
        </p:nvGrpSpPr>
        <p:grpSpPr>
          <a:xfrm>
            <a:off x="4953000" y="1047750"/>
            <a:ext cx="3619500" cy="1666800"/>
            <a:chOff x="0" y="0"/>
            <a:chExt cx="3619500" cy="1666800"/>
          </a:xfrm>
        </p:grpSpPr>
        <p:pic>
          <p:nvPicPr>
            <p:cNvPr id="197" name="Google Shape;197;p20"/>
            <p:cNvPicPr preferRelativeResize="0"/>
            <p:nvPr/>
          </p:nvPicPr>
          <p:blipFill rotWithShape="1">
            <a:blip r:embed="rId4">
              <a:alphaModFix/>
            </a:blip>
            <a:srcRect b="9010" l="0" r="0" t="9010"/>
            <a:stretch/>
          </p:blipFill>
          <p:spPr>
            <a:xfrm>
              <a:off x="0" y="0"/>
              <a:ext cx="3619500" cy="1666800"/>
            </a:xfrm>
            <a:prstGeom prst="roundRect">
              <a:avLst>
                <a:gd fmla="val 4571" name="adj"/>
              </a:avLst>
            </a:prstGeom>
            <a:noFill/>
            <a:ln>
              <a:noFill/>
            </a:ln>
          </p:spPr>
        </p:pic>
        <p:sp>
          <p:nvSpPr>
            <p:cNvPr id="198" name="Google Shape;198;p20"/>
            <p:cNvSpPr/>
            <p:nvPr/>
          </p:nvSpPr>
          <p:spPr>
            <a:xfrm>
              <a:off x="0" y="0"/>
              <a:ext cx="3619500" cy="1666800"/>
            </a:xfrm>
            <a:prstGeom prst="roundRect">
              <a:avLst>
                <a:gd fmla="val 4571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9" name="Google Shape;199;p20"/>
          <p:cNvSpPr txBox="1"/>
          <p:nvPr/>
        </p:nvSpPr>
        <p:spPr>
          <a:xfrm>
            <a:off x="4953000" y="2809875"/>
            <a:ext cx="3619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COMMIT ACTIVITY &amp; INSIGHTS</a:t>
            </a:r>
            <a:endParaRPr b="0" sz="1000">
              <a:solidFill>
                <a:srgbClr val="64748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200" name="Google Shape;200;p20"/>
          <p:cNvGrpSpPr/>
          <p:nvPr/>
        </p:nvGrpSpPr>
        <p:grpSpPr>
          <a:xfrm>
            <a:off x="4953000" y="3000375"/>
            <a:ext cx="3619500" cy="1666800"/>
            <a:chOff x="0" y="0"/>
            <a:chExt cx="3619500" cy="1666800"/>
          </a:xfrm>
        </p:grpSpPr>
        <p:pic>
          <p:nvPicPr>
            <p:cNvPr id="201" name="Google Shape;201;p20"/>
            <p:cNvPicPr preferRelativeResize="0"/>
            <p:nvPr/>
          </p:nvPicPr>
          <p:blipFill rotWithShape="1">
            <a:blip r:embed="rId5">
              <a:alphaModFix/>
            </a:blip>
            <a:srcRect b="9043" l="0" r="0" t="9051"/>
            <a:stretch/>
          </p:blipFill>
          <p:spPr>
            <a:xfrm>
              <a:off x="0" y="0"/>
              <a:ext cx="3619500" cy="166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20"/>
            <p:cNvSpPr/>
            <p:nvPr/>
          </p:nvSpPr>
          <p:spPr>
            <a:xfrm>
              <a:off x="0" y="0"/>
              <a:ext cx="3619500" cy="1666800"/>
            </a:xfrm>
            <a:prstGeom prst="roundRect">
              <a:avLst>
                <a:gd fmla="val 4571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 title="output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2175" y="3819425"/>
            <a:ext cx="1811742" cy="101774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8" name="Google Shape;208;p21" title="output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2175" y="1345075"/>
            <a:ext cx="1811747" cy="101869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9" name="Google Shape;209;p21" title="ec2_monitorin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2800" y="2598675"/>
            <a:ext cx="4066548" cy="228651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0" name="Google Shape;210;p21" title="rds_monitorin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2800" y="195300"/>
            <a:ext cx="4066548" cy="22865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1" name="Google Shape;211;p21" title="output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62175" y="2582250"/>
            <a:ext cx="1811752" cy="101869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" name="Google Shape;212;p21"/>
          <p:cNvSpPr txBox="1"/>
          <p:nvPr>
            <p:ph type="title"/>
          </p:nvPr>
        </p:nvSpPr>
        <p:spPr>
          <a:xfrm>
            <a:off x="134875" y="195300"/>
            <a:ext cx="2573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 SemiBold"/>
                <a:ea typeface="Poppins SemiBold"/>
                <a:cs typeface="Poppins SemiBold"/>
                <a:sym typeface="Poppins SemiBold"/>
              </a:rPr>
              <a:t>Results + Metrics</a:t>
            </a:r>
            <a:endParaRPr sz="18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13" name="Google Shape;213;p21" title="HomePage.png"/>
          <p:cNvPicPr preferRelativeResize="0"/>
          <p:nvPr/>
        </p:nvPicPr>
        <p:blipFill rotWithShape="1">
          <a:blip r:embed="rId8">
            <a:alphaModFix/>
          </a:blip>
          <a:srcRect b="0" l="0" r="0" t="10992"/>
          <a:stretch/>
        </p:blipFill>
        <p:spPr>
          <a:xfrm>
            <a:off x="7262175" y="202175"/>
            <a:ext cx="1811752" cy="90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4" name="Google Shape;214;p21"/>
          <p:cNvSpPr txBox="1"/>
          <p:nvPr/>
        </p:nvSpPr>
        <p:spPr>
          <a:xfrm>
            <a:off x="5173775" y="2040675"/>
            <a:ext cx="191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CloudWatch (RDS)Monitoring</a:t>
            </a:r>
            <a:endParaRPr sz="9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3019875" y="4562075"/>
            <a:ext cx="191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EC2 Instance Configuration</a:t>
            </a:r>
            <a:endParaRPr sz="9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216" name="Google Shape;216;p21"/>
          <p:cNvGrpSpPr/>
          <p:nvPr/>
        </p:nvGrpSpPr>
        <p:grpSpPr>
          <a:xfrm>
            <a:off x="134875" y="768000"/>
            <a:ext cx="2852928" cy="1605801"/>
            <a:chOff x="0" y="0"/>
            <a:chExt cx="3810000" cy="1714500"/>
          </a:xfrm>
        </p:grpSpPr>
        <p:sp>
          <p:nvSpPr>
            <p:cNvPr id="217" name="Google Shape;217;p21"/>
            <p:cNvSpPr/>
            <p:nvPr/>
          </p:nvSpPr>
          <p:spPr>
            <a:xfrm>
              <a:off x="0" y="0"/>
              <a:ext cx="3810000" cy="1714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89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1"/>
            <p:cNvSpPr txBox="1"/>
            <p:nvPr/>
          </p:nvSpPr>
          <p:spPr>
            <a:xfrm>
              <a:off x="0" y="0"/>
              <a:ext cx="3810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8425" lIns="178425" spcFirstLastPara="1" rIns="178425" wrap="square" tIns="178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11">
                  <a:solidFill>
                    <a:srgbClr val="4F46E5"/>
                  </a:solidFill>
                  <a:latin typeface="Poppins"/>
                  <a:ea typeface="Poppins"/>
                  <a:cs typeface="Poppins"/>
                  <a:sym typeface="Poppins"/>
                </a:rPr>
                <a:t>Results</a:t>
              </a:r>
              <a:endParaRPr b="1" sz="1311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79537" lvl="0" marL="428227" rtl="0" algn="l">
                <a:spcBef>
                  <a:spcPts val="843"/>
                </a:spcBef>
                <a:spcAft>
                  <a:spcPts val="0"/>
                </a:spcAft>
                <a:buClr>
                  <a:srgbClr val="334155"/>
                </a:buClr>
                <a:buSzPts val="1030"/>
                <a:buFont typeface="Roboto"/>
                <a:buChar char="●"/>
              </a:pPr>
              <a:r>
                <a:rPr lang="en" sz="103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Working application completed.</a:t>
              </a:r>
              <a:endParaRPr sz="103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537" lvl="0" marL="428227" rtl="0" algn="l">
                <a:spcBef>
                  <a:spcPts val="562"/>
                </a:spcBef>
                <a:spcAft>
                  <a:spcPts val="0"/>
                </a:spcAft>
                <a:buClr>
                  <a:srgbClr val="334155"/>
                </a:buClr>
                <a:buSzPts val="1030"/>
                <a:buFont typeface="Roboto"/>
                <a:buChar char="●"/>
              </a:pPr>
              <a:r>
                <a:rPr lang="en" sz="103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GitHub and AWS deployment evidence collected.</a:t>
              </a:r>
              <a:endParaRPr sz="103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537" lvl="0" marL="428227" rtl="0" algn="l">
                <a:spcBef>
                  <a:spcPts val="562"/>
                </a:spcBef>
                <a:spcAft>
                  <a:spcPts val="0"/>
                </a:spcAft>
                <a:buClr>
                  <a:srgbClr val="334155"/>
                </a:buClr>
                <a:buSzPts val="1030"/>
                <a:buFont typeface="Roboto"/>
                <a:buChar char="●"/>
              </a:pPr>
              <a:r>
                <a:rPr lang="en" sz="103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Testing and cloud validation completed.</a:t>
              </a:r>
              <a:endParaRPr sz="103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9" name="Google Shape;219;p21"/>
          <p:cNvGrpSpPr/>
          <p:nvPr/>
        </p:nvGrpSpPr>
        <p:grpSpPr>
          <a:xfrm>
            <a:off x="134875" y="2552275"/>
            <a:ext cx="2852928" cy="1694871"/>
            <a:chOff x="0" y="0"/>
            <a:chExt cx="3810000" cy="1809600"/>
          </a:xfrm>
        </p:grpSpPr>
        <p:sp>
          <p:nvSpPr>
            <p:cNvPr id="220" name="Google Shape;220;p21"/>
            <p:cNvSpPr/>
            <p:nvPr/>
          </p:nvSpPr>
          <p:spPr>
            <a:xfrm>
              <a:off x="0" y="0"/>
              <a:ext cx="3810000" cy="18096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89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1"/>
            <p:cNvSpPr txBox="1"/>
            <p:nvPr/>
          </p:nvSpPr>
          <p:spPr>
            <a:xfrm>
              <a:off x="0" y="0"/>
              <a:ext cx="3810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8425" lIns="178425" spcFirstLastPara="1" rIns="178425" wrap="square" tIns="178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11">
                  <a:solidFill>
                    <a:srgbClr val="06B6D4"/>
                  </a:solidFill>
                  <a:latin typeface="Poppins"/>
                  <a:ea typeface="Poppins"/>
                  <a:cs typeface="Poppins"/>
                  <a:sym typeface="Poppins"/>
                </a:rPr>
                <a:t>Evidence</a:t>
              </a:r>
              <a:endParaRPr b="1" sz="1311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79537" lvl="0" marL="428227" rtl="0" algn="l">
                <a:spcBef>
                  <a:spcPts val="843"/>
                </a:spcBef>
                <a:spcAft>
                  <a:spcPts val="0"/>
                </a:spcAft>
                <a:buClr>
                  <a:srgbClr val="334155"/>
                </a:buClr>
                <a:buSzPts val="1030"/>
                <a:buFont typeface="Roboto"/>
                <a:buChar char="●"/>
              </a:pPr>
              <a:r>
                <a:rPr lang="en" sz="103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Frontend pages</a:t>
              </a:r>
              <a:endParaRPr sz="103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537" lvl="0" marL="428227" rtl="0" algn="l">
                <a:spcBef>
                  <a:spcPts val="421"/>
                </a:spcBef>
                <a:spcAft>
                  <a:spcPts val="0"/>
                </a:spcAft>
                <a:buClr>
                  <a:srgbClr val="334155"/>
                </a:buClr>
                <a:buSzPts val="1030"/>
                <a:buFont typeface="Roboto"/>
                <a:buChar char="●"/>
              </a:pPr>
              <a:r>
                <a:rPr lang="en" sz="103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Backend API validation</a:t>
              </a:r>
              <a:endParaRPr sz="103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537" lvl="0" marL="428227" rtl="0" algn="l">
                <a:spcBef>
                  <a:spcPts val="421"/>
                </a:spcBef>
                <a:spcAft>
                  <a:spcPts val="0"/>
                </a:spcAft>
                <a:buClr>
                  <a:srgbClr val="334155"/>
                </a:buClr>
                <a:buSzPts val="1030"/>
                <a:buFont typeface="Roboto"/>
                <a:buChar char="●"/>
              </a:pPr>
              <a:r>
                <a:rPr lang="en" sz="103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Nginx/Gunicorn service status</a:t>
              </a:r>
              <a:endParaRPr sz="103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537" lvl="0" marL="428227" rtl="0" algn="l">
                <a:spcBef>
                  <a:spcPts val="421"/>
                </a:spcBef>
                <a:spcAft>
                  <a:spcPts val="0"/>
                </a:spcAft>
                <a:buClr>
                  <a:srgbClr val="334155"/>
                </a:buClr>
                <a:buSzPts val="1030"/>
                <a:buFont typeface="Roboto"/>
                <a:buChar char="●"/>
              </a:pPr>
              <a:r>
                <a:rPr lang="en" sz="103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RDS monitoring</a:t>
              </a:r>
              <a:endParaRPr sz="103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79537" lvl="0" marL="428227" rtl="0" algn="l">
                <a:spcBef>
                  <a:spcPts val="421"/>
                </a:spcBef>
                <a:spcAft>
                  <a:spcPts val="0"/>
                </a:spcAft>
                <a:buClr>
                  <a:srgbClr val="334155"/>
                </a:buClr>
                <a:buSzPts val="1030"/>
                <a:buFont typeface="Roboto"/>
                <a:buChar char="●"/>
              </a:pPr>
              <a:r>
                <a:rPr lang="en" sz="103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Final output screens</a:t>
              </a:r>
              <a:endParaRPr sz="103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/>
          <p:nvPr/>
        </p:nvSpPr>
        <p:spPr>
          <a:xfrm>
            <a:off x="571500" y="381000"/>
            <a:ext cx="8001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Learnings + Future Scope</a:t>
            </a:r>
            <a:endParaRPr b="1" sz="24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27" name="Google Shape;227;p22"/>
          <p:cNvGrpSpPr/>
          <p:nvPr/>
        </p:nvGrpSpPr>
        <p:grpSpPr>
          <a:xfrm>
            <a:off x="571500" y="1047750"/>
            <a:ext cx="3810000" cy="1714500"/>
            <a:chOff x="0" y="0"/>
            <a:chExt cx="3810000" cy="1714500"/>
          </a:xfrm>
        </p:grpSpPr>
        <p:sp>
          <p:nvSpPr>
            <p:cNvPr id="228" name="Google Shape;228;p22"/>
            <p:cNvSpPr/>
            <p:nvPr/>
          </p:nvSpPr>
          <p:spPr>
            <a:xfrm>
              <a:off x="0" y="0"/>
              <a:ext cx="3810000" cy="1714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2"/>
            <p:cNvSpPr txBox="1"/>
            <p:nvPr/>
          </p:nvSpPr>
          <p:spPr>
            <a:xfrm>
              <a:off x="190500" y="142875"/>
              <a:ext cx="3429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F46E5"/>
                  </a:solidFill>
                  <a:latin typeface="Poppins"/>
                  <a:ea typeface="Poppins"/>
                  <a:cs typeface="Poppins"/>
                  <a:sym typeface="Poppins"/>
                </a:rPr>
                <a:t>Learnings</a:t>
              </a:r>
              <a:endParaRPr b="1" sz="140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Roboto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React frontend architecture</a:t>
              </a:r>
              <a:endParaRPr b="0" sz="10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Roboto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Flask API development</a:t>
              </a:r>
              <a:endParaRPr b="0" sz="10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Roboto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Dataset-driven backend design</a:t>
              </a:r>
              <a:endParaRPr b="0" sz="10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Roboto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EC2 deployment workflow</a:t>
              </a:r>
              <a:endParaRPr b="0" sz="10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Roboto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Nginx and Gunicorn setup</a:t>
              </a:r>
              <a:endParaRPr b="0" sz="10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Roboto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RDS connectivity and monitoring</a:t>
              </a:r>
              <a:endParaRPr b="0" sz="10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0" name="Google Shape;230;p22"/>
          <p:cNvGrpSpPr/>
          <p:nvPr/>
        </p:nvGrpSpPr>
        <p:grpSpPr>
          <a:xfrm>
            <a:off x="571500" y="2952750"/>
            <a:ext cx="3810000" cy="1809600"/>
            <a:chOff x="0" y="0"/>
            <a:chExt cx="3810000" cy="1809600"/>
          </a:xfrm>
        </p:grpSpPr>
        <p:sp>
          <p:nvSpPr>
            <p:cNvPr id="231" name="Google Shape;231;p22"/>
            <p:cNvSpPr/>
            <p:nvPr/>
          </p:nvSpPr>
          <p:spPr>
            <a:xfrm>
              <a:off x="0" y="0"/>
              <a:ext cx="3810000" cy="18096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2"/>
            <p:cNvSpPr txBox="1"/>
            <p:nvPr/>
          </p:nvSpPr>
          <p:spPr>
            <a:xfrm>
              <a:off x="190500" y="142875"/>
              <a:ext cx="3429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6B6D4"/>
                  </a:solidFill>
                  <a:latin typeface="Poppins"/>
                  <a:ea typeface="Poppins"/>
                  <a:cs typeface="Poppins"/>
                  <a:sym typeface="Poppins"/>
                </a:rPr>
                <a:t>Future Scope</a:t>
              </a:r>
              <a:endParaRPr b="1" sz="1400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Roboto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CloudFront CDN integration</a:t>
              </a:r>
              <a:endParaRPr b="0" sz="10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Roboto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Route53 domain management</a:t>
              </a:r>
              <a:endParaRPr b="0" sz="10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Roboto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Real-time system notifications</a:t>
              </a:r>
              <a:endParaRPr b="0" sz="10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Roboto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AI-driven pilgrim recommendations</a:t>
              </a:r>
              <a:endParaRPr b="0" sz="10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Roboto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HTTPS security and domain setup</a:t>
              </a:r>
              <a:endParaRPr b="0" sz="10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21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Roboto"/>
                <a:buChar char="●"/>
              </a:pPr>
              <a:r>
                <a:rPr b="0" lang="en" sz="100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Admin portal for data management</a:t>
              </a:r>
              <a:endParaRPr b="0" sz="10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3" name="Google Shape;233;p22"/>
          <p:cNvGrpSpPr/>
          <p:nvPr/>
        </p:nvGrpSpPr>
        <p:grpSpPr>
          <a:xfrm>
            <a:off x="4667250" y="1047750"/>
            <a:ext cx="3905400" cy="190500"/>
            <a:chOff x="0" y="0"/>
            <a:chExt cx="3905400" cy="190500"/>
          </a:xfrm>
        </p:grpSpPr>
        <p:sp>
          <p:nvSpPr>
            <p:cNvPr id="234" name="Google Shape;234;p22"/>
            <p:cNvSpPr/>
            <p:nvPr/>
          </p:nvSpPr>
          <p:spPr>
            <a:xfrm>
              <a:off x="0" y="0"/>
              <a:ext cx="39054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2"/>
            <p:cNvSpPr txBox="1"/>
            <p:nvPr/>
          </p:nvSpPr>
          <p:spPr>
            <a:xfrm>
              <a:off x="0" y="0"/>
              <a:ext cx="3905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RDS DATABASE CONFIGURATION</a:t>
              </a:r>
              <a:endParaRPr b="0" sz="1000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236" name="Google Shape;236;p22"/>
          <p:cNvGrpSpPr/>
          <p:nvPr/>
        </p:nvGrpSpPr>
        <p:grpSpPr>
          <a:xfrm>
            <a:off x="4667250" y="1082993"/>
            <a:ext cx="3905400" cy="1774583"/>
            <a:chOff x="0" y="-202882"/>
            <a:chExt cx="3905400" cy="1774583"/>
          </a:xfrm>
        </p:grpSpPr>
        <p:pic>
          <p:nvPicPr>
            <p:cNvPr id="237" name="Google Shape;237;p22"/>
            <p:cNvPicPr preferRelativeResize="0"/>
            <p:nvPr/>
          </p:nvPicPr>
          <p:blipFill rotWithShape="1">
            <a:blip r:embed="rId4">
              <a:alphaModFix/>
            </a:blip>
            <a:srcRect b="23522" l="0" r="0" t="5090"/>
            <a:stretch/>
          </p:blipFill>
          <p:spPr>
            <a:xfrm>
              <a:off x="0" y="-202882"/>
              <a:ext cx="3905400" cy="1571700"/>
            </a:xfrm>
            <a:prstGeom prst="roundRect">
              <a:avLst>
                <a:gd fmla="val 4848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38" name="Google Shape;238;p22"/>
            <p:cNvSpPr/>
            <p:nvPr/>
          </p:nvSpPr>
          <p:spPr>
            <a:xfrm>
              <a:off x="0" y="0"/>
              <a:ext cx="3905400" cy="1571700"/>
            </a:xfrm>
            <a:prstGeom prst="roundRect">
              <a:avLst>
                <a:gd fmla="val 4848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" name="Google Shape;239;p22"/>
          <p:cNvGrpSpPr/>
          <p:nvPr/>
        </p:nvGrpSpPr>
        <p:grpSpPr>
          <a:xfrm>
            <a:off x="4667250" y="3000375"/>
            <a:ext cx="3905400" cy="190500"/>
            <a:chOff x="0" y="0"/>
            <a:chExt cx="3905400" cy="190500"/>
          </a:xfrm>
        </p:grpSpPr>
        <p:sp>
          <p:nvSpPr>
            <p:cNvPr id="240" name="Google Shape;240;p22"/>
            <p:cNvSpPr/>
            <p:nvPr/>
          </p:nvSpPr>
          <p:spPr>
            <a:xfrm>
              <a:off x="0" y="0"/>
              <a:ext cx="39054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2"/>
            <p:cNvSpPr txBox="1"/>
            <p:nvPr/>
          </p:nvSpPr>
          <p:spPr>
            <a:xfrm>
              <a:off x="0" y="0"/>
              <a:ext cx="3905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S3 FRONTEND ZIPFILE STORAGE</a:t>
              </a:r>
              <a:endParaRPr b="0" sz="1000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242" name="Google Shape;242;p22"/>
          <p:cNvGrpSpPr/>
          <p:nvPr/>
        </p:nvGrpSpPr>
        <p:grpSpPr>
          <a:xfrm>
            <a:off x="4667250" y="3026093"/>
            <a:ext cx="3905400" cy="1784108"/>
            <a:chOff x="0" y="-212407"/>
            <a:chExt cx="3905400" cy="1784108"/>
          </a:xfrm>
        </p:grpSpPr>
        <p:pic>
          <p:nvPicPr>
            <p:cNvPr id="243" name="Google Shape;243;p22"/>
            <p:cNvPicPr preferRelativeResize="0"/>
            <p:nvPr/>
          </p:nvPicPr>
          <p:blipFill rotWithShape="1">
            <a:blip r:embed="rId5">
              <a:alphaModFix/>
            </a:blip>
            <a:srcRect b="23899" l="0" r="0" t="4503"/>
            <a:stretch/>
          </p:blipFill>
          <p:spPr>
            <a:xfrm>
              <a:off x="0" y="-212408"/>
              <a:ext cx="3905400" cy="1571700"/>
            </a:xfrm>
            <a:prstGeom prst="roundRect">
              <a:avLst>
                <a:gd fmla="val 4848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44" name="Google Shape;244;p22"/>
            <p:cNvSpPr/>
            <p:nvPr/>
          </p:nvSpPr>
          <p:spPr>
            <a:xfrm>
              <a:off x="0" y="0"/>
              <a:ext cx="3905400" cy="1571700"/>
            </a:xfrm>
            <a:prstGeom prst="roundRect">
              <a:avLst>
                <a:gd fmla="val 4848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p22"/>
          <p:cNvSpPr txBox="1"/>
          <p:nvPr/>
        </p:nvSpPr>
        <p:spPr>
          <a:xfrm>
            <a:off x="7105246" y="2317300"/>
            <a:ext cx="140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RDS Configuration</a:t>
            </a:r>
            <a:endParaRPr sz="9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7105246" y="4326900"/>
            <a:ext cx="140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S3 Frontend ZipFile</a:t>
            </a:r>
            <a:endParaRPr sz="9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/>
          <p:nvPr/>
        </p:nvSpPr>
        <p:spPr>
          <a:xfrm>
            <a:off x="571500" y="1333500"/>
            <a:ext cx="57300" cy="2476500"/>
          </a:xfrm>
          <a:prstGeom prst="roundRect">
            <a:avLst>
              <a:gd fmla="val 50000" name="adj"/>
            </a:avLst>
          </a:prstGeom>
          <a:solidFill>
            <a:srgbClr val="4F46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819150" y="1333500"/>
            <a:ext cx="34290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The Vision</a:t>
            </a:r>
            <a:endParaRPr b="1" sz="1400">
              <a:solidFill>
                <a:srgbClr val="4F46E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0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“Smart Pilgrim Companion transforms fragmented pilgrimage planning into a unified cloud-enabled experience.”</a:t>
            </a:r>
            <a:endParaRPr b="0" sz="2000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4762500" y="571500"/>
            <a:ext cx="3810000" cy="40005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4953000" y="857250"/>
            <a:ext cx="342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b="1" sz="28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5" name="Google Shape;255;p23"/>
          <p:cNvPicPr preferRelativeResize="0"/>
          <p:nvPr/>
        </p:nvPicPr>
        <p:blipFill rotWithShape="1">
          <a:blip r:embed="rId4">
            <a:alphaModFix/>
          </a:blip>
          <a:srcRect b="80" l="0" r="0" t="80"/>
          <a:stretch/>
        </p:blipFill>
        <p:spPr>
          <a:xfrm>
            <a:off x="5143500" y="1619250"/>
            <a:ext cx="3048000" cy="2028900"/>
          </a:xfrm>
          <a:prstGeom prst="roundRect">
            <a:avLst>
              <a:gd fmla="val 5633" name="adj"/>
            </a:avLst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4953000" y="3810000"/>
            <a:ext cx="342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Cloud-Enabled Experience</a:t>
            </a:r>
            <a:endParaRPr b="0" sz="1100">
              <a:solidFill>
                <a:srgbClr val="64748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